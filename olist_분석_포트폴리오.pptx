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2D29"/>
                </a:solidFill>
                <a:latin typeface="Malgun Gothic"/>
              </a:rPr>
              <a:t>월별 주문 수 (건)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월별 주문 수</c:v>
                </c:pt>
              </c:strCache>
            </c:strRef>
          </c:tx>
          <c:dPt>
            <c:idx val="0"/>
            <c:spPr>
              <a:solidFill>
                <a:srgbClr val="2A9D8F"/>
              </a:solidFill>
            </c:spPr>
          </c:dPt>
          <c:dPt>
            <c:idx val="1"/>
            <c:spPr>
              <a:solidFill>
                <a:srgbClr val="2A9D8F"/>
              </a:solidFill>
            </c:spPr>
          </c:dPt>
          <c:dPt>
            <c:idx val="2"/>
            <c:spPr>
              <a:solidFill>
                <a:srgbClr val="2A9D8F"/>
              </a:solidFill>
            </c:spPr>
          </c:dPt>
          <c:dPt>
            <c:idx val="3"/>
            <c:spPr>
              <a:solidFill>
                <a:srgbClr val="2A9D8F"/>
              </a:solidFill>
            </c:spPr>
          </c:dPt>
          <c:dPt>
            <c:idx val="4"/>
            <c:spPr>
              <a:solidFill>
                <a:srgbClr val="2A9D8F"/>
              </a:solidFill>
            </c:spPr>
          </c:dPt>
          <c:dPt>
            <c:idx val="5"/>
            <c:spPr>
              <a:solidFill>
                <a:srgbClr val="2A9D8F"/>
              </a:solidFill>
            </c:spPr>
          </c:dPt>
          <c:dPt>
            <c:idx val="6"/>
            <c:spPr>
              <a:solidFill>
                <a:srgbClr val="2A9D8F"/>
              </a:solidFill>
            </c:spPr>
          </c:dPt>
          <c:dPt>
            <c:idx val="7"/>
            <c:spPr>
              <a:solidFill>
                <a:srgbClr val="2A9D8F"/>
              </a:solidFill>
            </c:spPr>
          </c:dPt>
          <c:dPt>
            <c:idx val="8"/>
            <c:spPr>
              <a:solidFill>
                <a:srgbClr val="2A9D8F"/>
              </a:solidFill>
            </c:spPr>
          </c:dPt>
          <c:dPt>
            <c:idx val="9"/>
            <c:spPr>
              <a:solidFill>
                <a:srgbClr val="2A9D8F"/>
              </a:solidFill>
            </c:spPr>
          </c:dPt>
          <c:dPt>
            <c:idx val="10"/>
            <c:spPr>
              <a:solidFill>
                <a:srgbClr val="2A9D8F"/>
              </a:solidFill>
            </c:spPr>
          </c:dPt>
          <c:dPt>
            <c:idx val="11"/>
            <c:spPr>
              <a:solidFill>
                <a:srgbClr val="2A9D8F"/>
              </a:solidFill>
            </c:spPr>
          </c:dPt>
          <c:dPt>
            <c:idx val="12"/>
            <c:spPr>
              <a:solidFill>
                <a:srgbClr val="0B3D2E"/>
              </a:solidFill>
            </c:spPr>
          </c:dPt>
          <c:dPt>
            <c:idx val="13"/>
            <c:spPr>
              <a:solidFill>
                <a:srgbClr val="0B3D2E"/>
              </a:solidFill>
            </c:spPr>
          </c:dPt>
          <c:dPt>
            <c:idx val="14"/>
            <c:spPr>
              <a:solidFill>
                <a:srgbClr val="0B3D2E"/>
              </a:solidFill>
            </c:spPr>
          </c:dPt>
          <c:dPt>
            <c:idx val="15"/>
            <c:spPr>
              <a:solidFill>
                <a:srgbClr val="0B3D2E"/>
              </a:solidFill>
            </c:spPr>
          </c:dPt>
          <c:dPt>
            <c:idx val="16"/>
            <c:spPr>
              <a:solidFill>
                <a:srgbClr val="0B3D2E"/>
              </a:solidFill>
            </c:spPr>
          </c:dPt>
          <c:dPt>
            <c:idx val="17"/>
            <c:spPr>
              <a:solidFill>
                <a:srgbClr val="0B3D2E"/>
              </a:solidFill>
            </c:spPr>
          </c:dPt>
          <c:dPt>
            <c:idx val="18"/>
            <c:spPr>
              <a:solidFill>
                <a:srgbClr val="0B3D2E"/>
              </a:solidFill>
            </c:spPr>
          </c:dPt>
          <c:dPt>
            <c:idx val="19"/>
            <c:spPr>
              <a:solidFill>
                <a:srgbClr val="0B3D2E"/>
              </a:solidFill>
            </c:spPr>
          </c:dPt>
          <c:cat>
            <c:strRef>
              <c:f>Sheet1!$A$2:$A$21</c:f>
              <c:strCache>
                <c:ptCount val="20"/>
                <c:pt idx="0">
                  <c:v>17.1</c:v>
                </c:pt>
                <c:pt idx="1">
                  <c:v>17.2</c:v>
                </c:pt>
                <c:pt idx="2">
                  <c:v>17.3</c:v>
                </c:pt>
                <c:pt idx="3">
                  <c:v>17.4</c:v>
                </c:pt>
                <c:pt idx="4">
                  <c:v>17.5</c:v>
                </c:pt>
                <c:pt idx="5">
                  <c:v>17.6</c:v>
                </c:pt>
                <c:pt idx="6">
                  <c:v>17.7</c:v>
                </c:pt>
                <c:pt idx="7">
                  <c:v>17.8</c:v>
                </c:pt>
                <c:pt idx="8">
                  <c:v>17.9</c:v>
                </c:pt>
                <c:pt idx="9">
                  <c:v>17.10</c:v>
                </c:pt>
                <c:pt idx="10">
                  <c:v>17.11</c:v>
                </c:pt>
                <c:pt idx="11">
                  <c:v>17.12</c:v>
                </c:pt>
                <c:pt idx="12">
                  <c:v>18.1</c:v>
                </c:pt>
                <c:pt idx="13">
                  <c:v>18.2</c:v>
                </c:pt>
                <c:pt idx="14">
                  <c:v>18.3</c:v>
                </c:pt>
                <c:pt idx="15">
                  <c:v>18.4</c:v>
                </c:pt>
                <c:pt idx="16">
                  <c:v>18.5</c:v>
                </c:pt>
                <c:pt idx="17">
                  <c:v>18.6</c:v>
                </c:pt>
                <c:pt idx="18">
                  <c:v>18.7</c:v>
                </c:pt>
                <c:pt idx="19">
                  <c:v>18.8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797</c:v>
                </c:pt>
                <c:pt idx="1">
                  <c:v>1763</c:v>
                </c:pt>
                <c:pt idx="2">
                  <c:v>2649</c:v>
                </c:pt>
                <c:pt idx="3">
                  <c:v>2386</c:v>
                </c:pt>
                <c:pt idx="4">
                  <c:v>3671</c:v>
                </c:pt>
                <c:pt idx="5">
                  <c:v>3229</c:v>
                </c:pt>
                <c:pt idx="6">
                  <c:v>3998</c:v>
                </c:pt>
                <c:pt idx="7">
                  <c:v>4304</c:v>
                </c:pt>
                <c:pt idx="8">
                  <c:v>4265</c:v>
                </c:pt>
                <c:pt idx="9">
                  <c:v>4605</c:v>
                </c:pt>
                <c:pt idx="10">
                  <c:v>7507</c:v>
                </c:pt>
                <c:pt idx="11">
                  <c:v>5662</c:v>
                </c:pt>
                <c:pt idx="12">
                  <c:v>7235</c:v>
                </c:pt>
                <c:pt idx="13">
                  <c:v>6655</c:v>
                </c:pt>
                <c:pt idx="14">
                  <c:v>7185</c:v>
                </c:pt>
                <c:pt idx="15">
                  <c:v>6924</c:v>
                </c:pt>
                <c:pt idx="16">
                  <c:v>6849</c:v>
                </c:pt>
                <c:pt idx="17">
                  <c:v>6149</c:v>
                </c:pt>
                <c:pt idx="18">
                  <c:v>6251</c:v>
                </c:pt>
                <c:pt idx="19">
                  <c:v>6428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5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0.0"/>
          <c:min val="0.0"/>
        </c:scaling>
        <c:delete val="0"/>
        <c:axPos val="l"/>
        <c:majorGridlines>
          <c:spPr>
            <a:ln>
              <a:solidFill>
                <a:srgbClr val="E3E8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C4A46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1F2D29"/>
                </a:solidFill>
                <a:latin typeface="Malgun Gothic"/>
              </a:rPr>
              <a:t>고객 구성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비율</c:v>
                </c:pt>
              </c:strCache>
            </c:strRef>
          </c:tx>
          <c:dPt>
            <c:idx val="0"/>
            <c:spPr>
              <a:solidFill>
                <a:srgbClr val="7B8F89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9AAAA5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3CCC9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9534F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3E8E6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1 재구매</c:v>
                </c:pt>
                <c:pt idx="1">
                  <c:v>2 최근 우수</c:v>
                </c:pt>
                <c:pt idx="2">
                  <c:v>3 최근 일반</c:v>
                </c:pt>
                <c:pt idx="3">
                  <c:v>4 휴면 우수</c:v>
                </c:pt>
                <c:pt idx="4">
                  <c:v>5 휴면 일반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</c:v>
                </c:pt>
                <c:pt idx="1">
                  <c:v>15.6</c:v>
                </c:pt>
                <c:pt idx="2">
                  <c:v>23.3</c:v>
                </c:pt>
                <c:pt idx="3">
                  <c:v>22.7</c:v>
                </c:pt>
                <c:pt idx="4">
                  <c:v>36.3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3C4A46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1F2D29"/>
                </a:solidFill>
                <a:latin typeface="Malgun Gothic"/>
              </a:rPr>
              <a:t>매출 구성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비율</c:v>
                </c:pt>
              </c:strCache>
            </c:strRef>
          </c:tx>
          <c:dPt>
            <c:idx val="0"/>
            <c:spPr>
              <a:solidFill>
                <a:srgbClr val="7B8F89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9AAAA5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3CCC9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9534F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3E8E6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1 재구매</c:v>
                </c:pt>
                <c:pt idx="1">
                  <c:v>2 최근 우수</c:v>
                </c:pt>
                <c:pt idx="2">
                  <c:v>3 최근 일반</c:v>
                </c:pt>
                <c:pt idx="3">
                  <c:v>4 휴면 우수</c:v>
                </c:pt>
                <c:pt idx="4">
                  <c:v>5 휴면 일반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</c:v>
                </c:pt>
                <c:pt idx="1">
                  <c:v>29.5</c:v>
                </c:pt>
                <c:pt idx="2">
                  <c:v>9.1</c:v>
                </c:pt>
                <c:pt idx="3">
                  <c:v>43.0</c:v>
                </c:pt>
                <c:pt idx="4">
                  <c:v>14.3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3C4A46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2D29"/>
                </a:solidFill>
                <a:latin typeface="Malgun Gothic"/>
              </a:rPr>
              <a:t>첫 구매 후 기간별, 아직 안 산 고객이 다음 90일 안에 다시 산 비율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B4BFBB"/>
              </a:solidFill>
            </c:spPr>
          </c:dPt>
          <c:dPt>
            <c:idx val="1"/>
            <c:spPr>
              <a:solidFill>
                <a:srgbClr val="B4BFBB"/>
              </a:solidFill>
            </c:spPr>
          </c:dPt>
          <c:dPt>
            <c:idx val="2"/>
            <c:spPr>
              <a:solidFill>
                <a:srgbClr val="2A9D8F"/>
              </a:solidFill>
            </c:spPr>
          </c:dPt>
          <c:dPt>
            <c:idx val="3"/>
            <c:spPr>
              <a:solidFill>
                <a:srgbClr val="2A9D8F"/>
              </a:solidFill>
            </c:spPr>
          </c:dPt>
          <c:dPt>
            <c:idx val="4"/>
            <c:spPr>
              <a:solidFill>
                <a:srgbClr val="7B8F89"/>
              </a:solidFill>
            </c:spPr>
          </c:dPt>
          <c:cat>
            <c:strRef>
              <c:f>Sheet1!$A$2:$A$6</c:f>
              <c:strCache>
                <c:ptCount val="5"/>
                <c:pt idx="0">
                  <c:v>0~90일</c:v>
                </c:pt>
                <c:pt idx="1">
                  <c:v>91~180일</c:v>
                </c:pt>
                <c:pt idx="2">
                  <c:v>181~270일</c:v>
                </c:pt>
                <c:pt idx="3">
                  <c:v>271~360일</c:v>
                </c:pt>
                <c:pt idx="4">
                  <c:v>361~450일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1.29</c:v>
                </c:pt>
                <c:pt idx="1">
                  <c:v>0.67</c:v>
                </c:pt>
                <c:pt idx="2">
                  <c:v>0.71</c:v>
                </c:pt>
                <c:pt idx="3">
                  <c:v>0.58</c:v>
                </c:pt>
                <c:pt idx="4">
                  <c:v>0.37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5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7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C4A46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Kaggle 공개 데이터(Olist Brazilian E-Commerce).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 06_monthly.sql, 재구매 = 서로 다른 날 2번 이상 구매(같은 날 추가 주문은 한 번으로 셈, 2.2%).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 8개 중 6개 사용(판매자, 우편번호 좌표 표는 제외). Kaggle 공개 데이터. 고객은 customer_unique_id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sql/01_rfm_groups.sql. R, M은 NTILE(5)로 5등분(5점이 좋음). 최근 = 마지막 구매 후 177일 이내, 우수 = R$110 이상. 같은 날 추가 주문은 한 번으로 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 93,350명(배송 완료 주문 기준). 평점과 늦은 주문 비율은 두 그룹 고객의 주문 전체 기준 비교.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기대 매출은 평균 구매금액 x 가정한 추가 재구매율 3%. 비용은 포함하지 않았고, 순위는 평균 금액과 고객 수로 정해져 가정 비율이 바뀌어도 변하지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구매 후 d일까지 다시 사지 않은 고객 중 다음 90일 안에 다시 산 비율. 첫 구매 후 455일 이상 지난 고객만 사용. 한 번만 산 고객은 첫 구매 후 일수와 마지막 구매 후 일수가 같음. 마지막 구매 177~382일 = 6~12개월.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평균 구매금액 R$268(1회 재구매 가정). 비율 1, 3, 5%는 가정이며 연락 없이 돌아오는 비율(90일에 약 0.6~0.7%)보다 높게 잡은 값. 전체 매출 R$13,220,249.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제안은 데이터에서 읽은 방향이며 효과는 검증하지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3D2E"/>
                </a:solidFill>
                <a:latin typeface="Malgun Gothic"/>
              </a:rPr>
              <a:t>Olist 쇼핑몰 주문 데이터 분석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E7069"/>
                </a:solidFill>
                <a:latin typeface="Malgun Gothic"/>
              </a:rPr>
              <a:t>어떤 고객에게 먼저 투자해야 할까?</a:t>
            </a:r>
          </a:p>
        </p:txBody>
      </p:sp>
      <p:sp>
        <p:nvSpPr>
          <p:cNvPr id="4" name="Meta"/>
          <p:cNvSpPr txBox="1"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4BFBB"/>
                </a:solidFill>
                <a:latin typeface="Malgun Gothic"/>
              </a:rPr>
              <a:t>SQL, Python  |  Olist 공개 주문 데이터 2016.9 ~ 2018.10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Malgun Gothic"/>
              </a:rPr>
              <a:t>배경과 문제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3D2E"/>
                </a:solidFill>
                <a:latin typeface="Malgun Gothic"/>
              </a:rPr>
              <a:t>주문은 늘지 않고, 대부분의 고객은 한 번만 샀음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4BFBB"/>
                </a:solidFill>
                <a:latin typeface="Malgun Gothic"/>
              </a:rPr>
              <a:t>Olist 주문 데이터 분석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4BFBB"/>
                </a:solidFill>
                <a:latin typeface="Malgun Gothic"/>
              </a:rPr>
              <a:t>2</a:t>
            </a:r>
          </a:p>
        </p:txBody>
      </p:sp>
      <p:graphicFrame>
        <p:nvGraphicFramePr>
          <p:cNvPr id="6" name="chart-monthly"/>
          <p:cNvGraphicFramePr>
            <a:graphicFrameLocks noGrp="1"/>
          </p:cNvGraphicFramePr>
          <p:nvPr/>
        </p:nvGraphicFramePr>
        <p:xfrm>
          <a:off x="365760" y="1280160"/>
          <a:ext cx="48463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48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E7069"/>
                </a:solidFill>
                <a:latin typeface="Malgun Gothic"/>
              </a:rPr>
              <a:t>연한 색: 2017년, 진한 색: 2018년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258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Malgun Gothic"/>
              </a:rPr>
              <a:t>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1848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D29"/>
                </a:solidFill>
                <a:latin typeface="Malgun Gothic"/>
              </a:rPr>
              <a:t>2018년부터 주문이 월 6천 ~ 7천 건에서 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423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534F"/>
                </a:solidFill>
                <a:latin typeface="Malgun Gothic"/>
              </a:rP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71576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D29"/>
                </a:solidFill>
                <a:latin typeface="Malgun Gothic"/>
              </a:rPr>
              <a:t>고객 100명 중 98명은 한 번만 샀음. 모든 고객에게 연락하면 비용이 크므로 어디에 집중할지 정해야 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52043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Malgun Gothic"/>
              </a:rPr>
              <a:t>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81304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D29"/>
                </a:solidFill>
                <a:latin typeface="Malgun Gothic"/>
              </a:rPr>
              <a:t>고객을 구매 방식(RFM)으로 나눠, 그룹별로 집중할 곳과 방법을 정함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Malgun Gothic"/>
              </a:rPr>
              <a:t>데이터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3D2E"/>
                </a:solidFill>
                <a:latin typeface="Malgun Gothic"/>
              </a:rPr>
              <a:t>브라질 온라인 쇼핑몰 Olist의 실제 주문 기록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4BFBB"/>
                </a:solidFill>
                <a:latin typeface="Malgun Gothic"/>
              </a:rPr>
              <a:t>Olist 주문 데이터 분석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4BFBB"/>
                </a:solidFill>
                <a:latin typeface="Malgun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F2D29"/>
                </a:solidFill>
                <a:latin typeface="Malgun Gothic"/>
              </a:rPr>
              <a:t>여러 판매자가 입점해 물건을 파는 쇼핑몰에서, 고객이 주문한 내용과 배송, 결제, 리뷰가 기록됨 (2016.9 ~ 2018.10, 고객 정보는 익명 처리)</a:t>
            </a:r>
          </a:p>
        </p:txBody>
      </p:sp>
      <p:graphicFrame>
        <p:nvGraphicFramePr>
          <p:cNvPr id="7" name="table-data"/>
          <p:cNvGraphicFramePr>
            <a:graphicFrameLocks noGrp="1"/>
          </p:cNvGraphicFramePr>
          <p:nvPr/>
        </p:nvGraphicFramePr>
        <p:xfrm>
          <a:off x="457200" y="1737360"/>
          <a:ext cx="8229600" cy="2368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/>
                <a:gridCol w="2651760"/>
                <a:gridCol w="914400"/>
                <a:gridCol w="356616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표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 줄이 뜻하는 것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건수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주요 항목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주문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고객이 한 번 주문한 기록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99,441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주문 상태, 구매 시각, 배송 시각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주문 상품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주문에 담긴 상품 1개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112,650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상품, 판매자, 가격, 배송비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고객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주문한 고객 정보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99,441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고객 구분 번호, 지역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결제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주문의 결제 내용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103,886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결제 수단, 할부 개월, 바우처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리뷰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고객이 남긴 평점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99,224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평점 1~5점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상품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판매 상품 정보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32,951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상품군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D9534F"/>
                </a:solidFill>
                <a:latin typeface="Malgun Gothic"/>
              </a:rPr>
              <a:t>주의  </a:t>
            </a:r>
            <a:r>
              <a:rPr sz="1050" b="0">
                <a:solidFill>
                  <a:srgbClr val="1F2D29"/>
                </a:solidFill>
                <a:latin typeface="Malgun Gothic"/>
              </a:rPr>
              <a:t>주문할 때마다 고객 번호가 새로 생겨서, 같은 사람은 '고객 구분 번호'로 묶음 (99,441건 → 96,096명)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0B3D2E"/>
                </a:solidFill>
                <a:latin typeface="Malgun Gothic"/>
              </a:rPr>
              <a:t>분석 대상  </a:t>
            </a:r>
            <a:r>
              <a:rPr sz="1050" b="0">
                <a:solidFill>
                  <a:srgbClr val="1F2D29"/>
                </a:solidFill>
                <a:latin typeface="Malgun Gothic"/>
              </a:rPr>
              <a:t>배송 완료 주문 96,470건, 고객 93,350명 (96,096명 중 취소·배송 중 등으로 배송 완료 주문이 없는 2,746명 제외)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Malgun Gothic"/>
              </a:rPr>
              <a:t>분석. 고객 그룹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3D2E"/>
                </a:solidFill>
                <a:latin typeface="Malgun Gothic"/>
              </a:rPr>
              <a:t>고객을 구매 방식으로 5개 그룹으로 나눔 (RFM)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4BFBB"/>
                </a:solidFill>
                <a:latin typeface="Malgun Gothic"/>
              </a:rPr>
              <a:t>Olist 주문 데이터 분석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4BFBB"/>
                </a:solidFill>
                <a:latin typeface="Malgun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3D2E"/>
                </a:solidFill>
                <a:latin typeface="Malgun Gothic"/>
              </a:rPr>
              <a:t>한 번 산 고객이 대부분이라, 마지막 구매 시점과 구매금액으로 나눔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3D2E"/>
                </a:solidFill>
                <a:latin typeface="Malgun Gothic"/>
              </a:rPr>
              <a:t>R</a:t>
            </a:r>
            <a:r>
              <a:rPr sz="1100" b="0">
                <a:solidFill>
                  <a:srgbClr val="1F2D29"/>
                </a:solidFill>
                <a:latin typeface="Malgun Gothic"/>
              </a:rPr>
              <a:t> 마지막 구매 후 일수    </a:t>
            </a:r>
            <a:r>
              <a:rPr sz="1100" b="1">
                <a:solidFill>
                  <a:srgbClr val="0B3D2E"/>
                </a:solidFill>
                <a:latin typeface="Malgun Gothic"/>
              </a:rPr>
              <a:t>F</a:t>
            </a:r>
            <a:r>
              <a:rPr sz="1100" b="0">
                <a:solidFill>
                  <a:srgbClr val="1F2D29"/>
                </a:solidFill>
                <a:latin typeface="Malgun Gothic"/>
              </a:rPr>
              <a:t> 구매한 날 수    </a:t>
            </a:r>
            <a:r>
              <a:rPr sz="1100" b="1">
                <a:solidFill>
                  <a:srgbClr val="0B3D2E"/>
                </a:solidFill>
                <a:latin typeface="Malgun Gothic"/>
              </a:rPr>
              <a:t>M</a:t>
            </a:r>
            <a:r>
              <a:rPr sz="1100" b="0">
                <a:solidFill>
                  <a:srgbClr val="1F2D29"/>
                </a:solidFill>
                <a:latin typeface="Malgun Gothic"/>
              </a:rPr>
              <a:t> 총 구매금액</a:t>
            </a:r>
          </a:p>
        </p:txBody>
      </p:sp>
      <p:graphicFrame>
        <p:nvGraphicFramePr>
          <p:cNvPr id="8" name="table-groups"/>
          <p:cNvGraphicFramePr>
            <a:graphicFrameLocks noGrp="1"/>
          </p:cNvGraphicFramePr>
          <p:nvPr/>
        </p:nvGraphicFramePr>
        <p:xfrm>
          <a:off x="457200" y="1920240"/>
          <a:ext cx="448056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16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그룹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  재구매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서로 다른 날 2번 이상 구매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2  최근 우수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6개월 안에 구매, 금액 R$110 이상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3  최근 일반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6개월 안에 구매, 금액 R$110 미만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4  휴면 우수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6개월 넘게 구매 없음, 금액 R$110 이상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5  휴면 일반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6개월 넘게 구매 없음, 금액 R$110 미만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206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buChar char="-"/>
            </a:pPr>
            <a:r>
              <a:rPr sz="1000" b="0">
                <a:solidFill>
                  <a:srgbClr val="5E7069"/>
                </a:solidFill>
                <a:latin typeface="Malgun Gothic"/>
              </a:rPr>
              <a:t>우수 = 총 구매금액 상위 40%</a:t>
            </a:r>
          </a:p>
          <a:p>
            <a:pPr algn="l" marL="146304" indent="-146304">
              <a:spcBef>
                <a:spcPts val="200"/>
              </a:spcBef>
              <a:buChar char="-"/>
            </a:pPr>
            <a:r>
              <a:rPr sz="1000" b="0">
                <a:solidFill>
                  <a:srgbClr val="5E7069"/>
                </a:solidFill>
                <a:latin typeface="Malgun Gothic"/>
              </a:rPr>
              <a:t>R$ = 브라질 화폐 헤알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600200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3D2E"/>
                </a:solidFill>
                <a:latin typeface="Malgun Gothic"/>
              </a:rPr>
              <a:t>SQL로 점수를 매기고 그룹을 나눔</a:t>
            </a:r>
          </a:p>
        </p:txBody>
      </p:sp>
      <p:sp>
        <p:nvSpPr>
          <p:cNvPr id="11" name="code-rfm"/>
          <p:cNvSpPr/>
          <p:nvPr/>
        </p:nvSpPr>
        <p:spPr>
          <a:xfrm>
            <a:off x="5166360" y="1920240"/>
            <a:ext cx="3520440" cy="1600200"/>
          </a:xfrm>
          <a:prstGeom prst="rect">
            <a:avLst/>
          </a:prstGeom>
          <a:solidFill>
            <a:srgbClr val="1E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de-rfm-text"/>
          <p:cNvSpPr txBox="1"/>
          <p:nvPr/>
        </p:nvSpPr>
        <p:spPr>
          <a:xfrm>
            <a:off x="5303520" y="201168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NTILE(5) OVER (ORDER BY monetary)    AS m_score,</a:t>
            </a:r>
          </a:p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6 - NTILE(5) OVER (ORDER BY recency) AS r_score</a:t>
            </a:r>
          </a:p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/>
            </a:r>
          </a:p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CASE</a:t>
            </a:r>
          </a:p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  WHEN frequency &gt;= 2                THEN 1</a:t>
            </a:r>
          </a:p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  WHEN r_score &gt;= 4 AND m_score &gt;= 4 THEN 2</a:t>
            </a:r>
          </a:p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  WHEN r_score &gt;= 4                  THEN 3</a:t>
            </a:r>
          </a:p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  WHEN m_score &gt;= 4                  THEN 4</a:t>
            </a:r>
          </a:p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  ELSE 5</a:t>
            </a:r>
          </a:p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END AS grp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Malgun Gothic"/>
              </a:rPr>
              <a:t>분석. 고객 그룹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3D2E"/>
                </a:solidFill>
                <a:latin typeface="Malgun Gothic"/>
              </a:rPr>
              <a:t>휴면 우수 고객이 매출의 절반 가까이를 차지함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4BFBB"/>
                </a:solidFill>
                <a:latin typeface="Malgun Gothic"/>
              </a:rPr>
              <a:t>Olist 주문 데이터 분석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4BFBB"/>
                </a:solidFill>
                <a:latin typeface="Malgun Gothic"/>
              </a:rPr>
              <a:t>5</a:t>
            </a:r>
          </a:p>
        </p:txBody>
      </p:sp>
      <p:graphicFrame>
        <p:nvGraphicFramePr>
          <p:cNvPr id="6" name="chart-pie-customers"/>
          <p:cNvGraphicFramePr>
            <a:graphicFrameLocks noGrp="1"/>
          </p:cNvGraphicFramePr>
          <p:nvPr/>
        </p:nvGraphicFramePr>
        <p:xfrm>
          <a:off x="365760" y="118872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-pie-sales"/>
          <p:cNvGraphicFramePr>
            <a:graphicFrameLocks noGrp="1"/>
          </p:cNvGraphicFramePr>
          <p:nvPr/>
        </p:nvGraphicFramePr>
        <p:xfrm>
          <a:off x="4572000" y="1188720"/>
          <a:ext cx="420624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87368"/>
            <a:ext cx="7863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buChar char="-"/>
            </a:pPr>
            <a:r>
              <a:rPr sz="1150" b="1">
                <a:solidFill>
                  <a:srgbClr val="D9534F"/>
                </a:solidFill>
                <a:latin typeface="Malgun Gothic"/>
              </a:rPr>
              <a:t>휴면 우수 고객 </a:t>
            </a:r>
            <a:r>
              <a:rPr sz="1150" b="0">
                <a:solidFill>
                  <a:srgbClr val="1F2D29"/>
                </a:solidFill>
                <a:latin typeface="Malgun Gothic"/>
              </a:rPr>
              <a:t>21,198명: 고객의 23%, 매출의 43%, 평균 335일째 구매 없음</a:t>
            </a:r>
          </a:p>
          <a:p>
            <a:pPr algn="l" marL="146304" indent="-146304">
              <a:spcBef>
                <a:spcPts val="400"/>
              </a:spcBef>
              <a:buChar char="-"/>
            </a:pPr>
            <a:r>
              <a:rPr sz="1150" b="1">
                <a:solidFill>
                  <a:srgbClr val="D9534F"/>
                </a:solidFill>
                <a:latin typeface="Malgun Gothic"/>
              </a:rPr>
              <a:t>첫 구매 경험: </a:t>
            </a:r>
            <a:r>
              <a:rPr sz="1150" b="0">
                <a:solidFill>
                  <a:srgbClr val="1F2D29"/>
                </a:solidFill>
                <a:latin typeface="Malgun Gothic"/>
              </a:rPr>
              <a:t>평점 4.05점 (최근 우수 4.15점), 늦은 주문 9% (8%). 평점만으로 이탈 원인은 단정할 수 없음</a:t>
            </a:r>
          </a:p>
        </p:txBody>
      </p:sp>
      <p:sp>
        <p:nvSpPr>
          <p:cNvPr id="9" name="highlight-callout"/>
          <p:cNvSpPr/>
          <p:nvPr/>
        </p:nvSpPr>
        <p:spPr>
          <a:xfrm>
            <a:off x="457200" y="4023360"/>
            <a:ext cx="8229600" cy="749808"/>
          </a:xfrm>
          <a:prstGeom prst="rect">
            <a:avLst/>
          </a:prstGeom>
          <a:noFill/>
          <a:ln w="2857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Malgun Gothic"/>
              </a:rPr>
              <a:t>분석. 어디에 집중할까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3D2E"/>
                </a:solidFill>
                <a:latin typeface="Malgun Gothic"/>
              </a:rPr>
              <a:t>휴면 우수 고객에 먼저, 다음은 최근 우수 고객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4BFBB"/>
                </a:solidFill>
                <a:latin typeface="Malgun Gothic"/>
              </a:rPr>
              <a:t>Olist 주문 데이터 분석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4BFBB"/>
                </a:solidFill>
                <a:latin typeface="Malgun Gothic"/>
              </a:rPr>
              <a:t>6</a:t>
            </a:r>
          </a:p>
        </p:txBody>
      </p:sp>
      <p:graphicFrame>
        <p:nvGraphicFramePr>
          <p:cNvPr id="6" name="table-priority"/>
          <p:cNvGraphicFramePr>
            <a:graphicFrameLocks noGrp="1"/>
          </p:cNvGraphicFramePr>
          <p:nvPr/>
        </p:nvGraphicFramePr>
        <p:xfrm>
          <a:off x="457200" y="1280160"/>
          <a:ext cx="8229600" cy="25786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/>
                <a:gridCol w="1097280"/>
                <a:gridCol w="914400"/>
                <a:gridCol w="822960"/>
                <a:gridCol w="914400"/>
                <a:gridCol w="1005840"/>
                <a:gridCol w="283464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순위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그룹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고객 수(명)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매출 비중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평균 금액(R$)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연락 1명당
기대 매출(R$)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1순위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4 휴면 우수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21,198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43%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268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8.0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마지막 구매 6~12개월부터 연락, 같은 상품군 추천 + 바우처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2순위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2 최근 우수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14,562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267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8.0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휴면이 되기 전에 같은 상품군 추천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유지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 재구매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2,015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4%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271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8.1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별도 투자 없이 유지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3 최근 일반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21,717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9%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56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1.7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자동 메일 등 비용이 낮은 방식만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제외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5 휴면 일반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33,858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14%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56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1.7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투자하지 않음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</a:tbl>
          </a:graphicData>
        </a:graphic>
      </p:graphicFrame>
      <p:sp>
        <p:nvSpPr>
          <p:cNvPr id="7" name="highlight-priority1"/>
          <p:cNvSpPr/>
          <p:nvPr/>
        </p:nvSpPr>
        <p:spPr>
          <a:xfrm>
            <a:off x="457200" y="1709928"/>
            <a:ext cx="8229600" cy="429768"/>
          </a:xfrm>
          <a:prstGeom prst="rect">
            <a:avLst/>
          </a:prstGeom>
          <a:noFill/>
          <a:ln w="2857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buChar char="-"/>
            </a:pPr>
            <a:r>
              <a:rPr sz="1050" b="1">
                <a:solidFill>
                  <a:srgbClr val="0B3D2E"/>
                </a:solidFill>
                <a:latin typeface="Malgun Gothic"/>
              </a:rPr>
              <a:t>연락 1명당 기대 매출 = 평균 금액 x 3%</a:t>
            </a:r>
            <a:r>
              <a:rPr sz="1050" b="0">
                <a:solidFill>
                  <a:srgbClr val="1F2D29"/>
                </a:solidFill>
                <a:latin typeface="Malgun Gothic"/>
              </a:rPr>
              <a:t> (연락하면 3%가 다시 산다고 가정, 3%를 다르게 잡아도 순위는 같음)</a:t>
            </a:r>
          </a:p>
          <a:p>
            <a:pPr algn="l" marL="146304" indent="-146304">
              <a:spcBef>
                <a:spcPts val="400"/>
              </a:spcBef>
              <a:buChar char="-"/>
            </a:pPr>
            <a:r>
              <a:rPr sz="1050" b="0">
                <a:solidFill>
                  <a:srgbClr val="1F2D29"/>
                </a:solidFill>
                <a:latin typeface="Malgun Gothic"/>
              </a:rPr>
              <a:t>일반 그룹은 </a:t>
            </a:r>
            <a:r>
              <a:rPr sz="1050" b="1">
                <a:solidFill>
                  <a:srgbClr val="D9534F"/>
                </a:solidFill>
                <a:latin typeface="Malgun Gothic"/>
              </a:rPr>
              <a:t>연락 1명당 비용이 R$1.7보다 크면 손해</a:t>
            </a:r>
            <a:r>
              <a:rPr sz="1050" b="0">
                <a:solidFill>
                  <a:srgbClr val="1F2D29"/>
                </a:solidFill>
                <a:latin typeface="Malgun Gothic"/>
              </a:rPr>
              <a:t>, 우수 그룹은 R$8까지 남음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Malgun Gothic"/>
              </a:rPr>
              <a:t>분석. 어디에 집중할까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3D2E"/>
                </a:solidFill>
                <a:latin typeface="Malgun Gothic"/>
              </a:rPr>
              <a:t>휴면 우수 고객 중에서는 6~12개월 구간부터 연락함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4BFBB"/>
                </a:solidFill>
                <a:latin typeface="Malgun Gothic"/>
              </a:rPr>
              <a:t>Olist 주문 데이터 분석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4BFBB"/>
                </a:solidFill>
                <a:latin typeface="Malgun Gothic"/>
              </a:rPr>
              <a:t>7</a:t>
            </a:r>
          </a:p>
        </p:txBody>
      </p:sp>
      <p:graphicFrame>
        <p:nvGraphicFramePr>
          <p:cNvPr id="6" name="chart-hazard"/>
          <p:cNvGraphicFramePr>
            <a:graphicFrameLocks noGrp="1"/>
          </p:cNvGraphicFramePr>
          <p:nvPr/>
        </p:nvGraphicFramePr>
        <p:xfrm>
          <a:off x="365760" y="1188720"/>
          <a:ext cx="512064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highlight-window"/>
          <p:cNvSpPr/>
          <p:nvPr/>
        </p:nvSpPr>
        <p:spPr>
          <a:xfrm>
            <a:off x="2542032" y="2423160"/>
            <a:ext cx="1783080" cy="1417320"/>
          </a:xfrm>
          <a:prstGeom prst="rect">
            <a:avLst/>
          </a:prstGeom>
          <a:noFill/>
          <a:ln w="2857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325880"/>
            <a:ext cx="2926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Malgun Gothic"/>
              </a:rPr>
              <a:t>6~12개월 구간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F2D29"/>
                </a:solidFill>
                <a:latin typeface="Malgun Gothic"/>
              </a:rPr>
              <a:t>연락 없이도 90일마다 약 0.6~0.7%가 돌아옴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5E7069"/>
                </a:solidFill>
                <a:latin typeface="Malgun Gothic"/>
              </a:rPr>
              <a:t>12개월이 지나면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F2D29"/>
                </a:solidFill>
                <a:latin typeface="Malgun Gothic"/>
              </a:rPr>
              <a:t>0.4%로 낮아짐, 연락 효과도 낮을 것으로 봄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D9534F"/>
                </a:solidFill>
                <a:latin typeface="Malgun Gothic"/>
              </a:rPr>
              <a:t>연락 대상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F2D29"/>
                </a:solidFill>
                <a:latin typeface="Malgun Gothic"/>
              </a:rPr>
              <a:t>휴면 우수 21,198명 중 6~12개월 14,237명</a:t>
            </a:r>
          </a:p>
        </p:txBody>
      </p:sp>
      <p:sp>
        <p:nvSpPr>
          <p:cNvPr id="9" name="code-hazard"/>
          <p:cNvSpPr/>
          <p:nvPr/>
        </p:nvSpPr>
        <p:spPr>
          <a:xfrm>
            <a:off x="457200" y="4023360"/>
            <a:ext cx="5029200" cy="731520"/>
          </a:xfrm>
          <a:prstGeom prst="rect">
            <a:avLst/>
          </a:prstGeom>
          <a:solidFill>
            <a:srgbClr val="1E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-hazard-text"/>
          <p:cNvSpPr txBox="1"/>
          <p:nvPr/>
        </p:nvSpPr>
        <p:spPr>
          <a:xfrm>
            <a:off x="594360" y="4114800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risk = hc[hc.gap_days.isna() | (hc.gap_days &gt; d)]            # d일까지 안 산 고객</a:t>
            </a:r>
          </a:p>
          <a:p>
            <a:pPr algn="l"/>
            <a:r>
              <a:rPr sz="750" b="0">
                <a:solidFill>
                  <a:srgbClr val="E4EEEA"/>
                </a:solidFill>
                <a:latin typeface="Consolas"/>
              </a:rPr>
              <a:t>hit = ((risk.gap_days &gt; d) &amp; (risk.gap_days &lt;= d + 90)).sum()   # 다음 90일 안에 산 고객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Malgun Gothic"/>
              </a:rPr>
              <a:t>제안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3D2E"/>
                </a:solidFill>
                <a:latin typeface="Malgun Gothic"/>
              </a:rPr>
              <a:t>그래서 이렇게 연락함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4BFBB"/>
                </a:solidFill>
                <a:latin typeface="Malgun Gothic"/>
              </a:rPr>
              <a:t>Olist 주문 데이터 분석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4BFBB"/>
                </a:solidFill>
                <a:latin typeface="Malgun Gothic"/>
              </a:rPr>
              <a:t>8</a:t>
            </a:r>
          </a:p>
        </p:txBody>
      </p:sp>
      <p:graphicFrame>
        <p:nvGraphicFramePr>
          <p:cNvPr id="6" name="table-actions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/>
                <a:gridCol w="393192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2D29"/>
                          </a:solidFill>
                          <a:latin typeface="Malgun Gothic"/>
                        </a:rPr>
                        <a:t>누구에게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D29"/>
                          </a:solidFill>
                          <a:latin typeface="Malgun Gothic"/>
                        </a:rPr>
                        <a:t>휴면 우수 고객 중 마지막 구매가 6~12개월 전인 14,237명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D29"/>
                          </a:solidFill>
                          <a:latin typeface="Malgun Gothic"/>
                        </a:rPr>
                        <a:t>1년이 지나면 돌아올 확률이 낮아짐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2D29"/>
                          </a:solidFill>
                          <a:latin typeface="Malgun Gothic"/>
                        </a:rPr>
                        <a:t>무엇을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D29"/>
                          </a:solidFill>
                          <a:latin typeface="Malgun Gothic"/>
                        </a:rPr>
                        <a:t>첫 구매와 같은 상품군 추천 + 바우처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D29"/>
                          </a:solidFill>
                          <a:latin typeface="Malgun Gothic"/>
                        </a:rPr>
                        <a:t>다시 살 때 39%가 같은 상품군 (우연이면 6%), 바우처 사용 고객이 1.4배 더 다시 삼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2D29"/>
                          </a:solidFill>
                          <a:latin typeface="Malgun Gothic"/>
                        </a:rPr>
                        <a:t>확인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D29"/>
                          </a:solidFill>
                          <a:latin typeface="Malgun Gothic"/>
                        </a:rPr>
                        <a:t>대상을 절반씩 나눠 한쪽에만 발송하고 재구매 비율 비교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D29"/>
                          </a:solidFill>
                          <a:latin typeface="Malgun Gothic"/>
                        </a:rPr>
                        <a:t>효과는 아직 알 수 없으므로 실험으로 확인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3D2E"/>
                </a:solidFill>
                <a:latin typeface="Malgun Gothic"/>
              </a:rPr>
              <a:t>기대 효과 (가정): 연락 없이 돌아오는 고객에 더해, 연락으로 14,237명 중 N%가 더 돌아오면</a:t>
            </a:r>
          </a:p>
        </p:txBody>
      </p:sp>
      <p:graphicFrame>
        <p:nvGraphicFramePr>
          <p:cNvPr id="8" name="table-scenario"/>
          <p:cNvGraphicFramePr>
            <a:graphicFrameLocks noGrp="1"/>
          </p:cNvGraphicFramePr>
          <p:nvPr/>
        </p:nvGraphicFramePr>
        <p:xfrm>
          <a:off x="457200" y="3493008"/>
          <a:ext cx="8229600" cy="10241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더 돌아오는 비율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다시 산 고객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추가 매출(R$)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전체 매출 대비</a:t>
                      </a:r>
                    </a:p>
                  </a:txBody>
                  <a:tcPr anchor="ctr" marL="73152" marR="73152" marT="18288" marB="18288">
                    <a:solidFill>
                      <a:srgbClr val="0B3D2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1%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142명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38,090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0.3%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3%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427명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114,538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0.9%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5%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712명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190,986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D29"/>
                          </a:solidFill>
                          <a:latin typeface="Malgun Gothic"/>
                        </a:rPr>
                        <a:t>1.4%</a:t>
                      </a:r>
                    </a:p>
                  </a:txBody>
                  <a:tcPr anchor="ctr" marL="73152" marR="73152" marT="18288" marB="18288">
                    <a:solidFill>
                      <a:srgbClr val="F0F4F2"/>
                    </a:solidFill>
                  </a:tcPr>
                </a:tc>
              </a:tr>
            </a:tbl>
          </a:graphicData>
        </a:graphic>
      </p:graphicFrame>
      <p:sp>
        <p:nvSpPr>
          <p:cNvPr id="9" name="highlight-scenario"/>
          <p:cNvSpPr/>
          <p:nvPr/>
        </p:nvSpPr>
        <p:spPr>
          <a:xfrm>
            <a:off x="457200" y="4005072"/>
            <a:ext cx="8229600" cy="256032"/>
          </a:xfrm>
          <a:prstGeom prst="rect">
            <a:avLst/>
          </a:prstGeom>
          <a:noFill/>
          <a:ln w="2857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53712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E7069"/>
                </a:solidFill>
                <a:latin typeface="Malgun Gothic"/>
              </a:rPr>
              <a:t>쿠폰 비용은 뺀 금액, 추가 매출 = 더 돌아온 고객 수 x 평균 구매금액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Malgun Gothic"/>
              </a:rPr>
              <a:t>정리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3D2E"/>
                </a:solidFill>
                <a:latin typeface="Malgun Gothic"/>
              </a:rPr>
              <a:t>결론, 한계, 더 나아갈 점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4BFBB"/>
                </a:solidFill>
                <a:latin typeface="Malgun Gothic"/>
              </a:rPr>
              <a:t>Olist 주문 데이터 분석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B4BFBB"/>
                </a:solidFill>
                <a:latin typeface="Malgun Gothic"/>
              </a:rPr>
              <a:t>9</a:t>
            </a:r>
          </a:p>
        </p:txBody>
      </p:sp>
      <p:sp>
        <p:nvSpPr>
          <p:cNvPr id="6" name="summary-1"/>
          <p:cNvSpPr/>
          <p:nvPr/>
        </p:nvSpPr>
        <p:spPr>
          <a:xfrm>
            <a:off x="457200" y="1280160"/>
            <a:ext cx="2606040" cy="3200400"/>
          </a:xfrm>
          <a:prstGeom prst="rect">
            <a:avLst/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Malgun Gothic"/>
              </a:rPr>
              <a:t>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286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매출의 43%가 6개월 넘게 안 산 우수 고객 (이탈 원인은 데이터로 확인 불가)</a:t>
            </a:r>
          </a:p>
          <a:p>
            <a:pPr algn="l" marL="146304" indent="-146304">
              <a:spcBef>
                <a:spcPts val="900"/>
              </a:spcBef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집중 순서: 휴면 우수, 최근 우수</a:t>
            </a:r>
          </a:p>
          <a:p>
            <a:pPr algn="l" marL="146304" indent="-146304">
              <a:spcBef>
                <a:spcPts val="900"/>
              </a:spcBef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일반 그룹은 연락 비용이 크면 손해라 투자하지 않음</a:t>
            </a:r>
          </a:p>
          <a:p>
            <a:pPr algn="l" marL="146304" indent="-146304">
              <a:spcBef>
                <a:spcPts val="900"/>
              </a:spcBef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휴면 우수는 6~12개월부터 같은 상품군 추천 + 바우처</a:t>
            </a:r>
          </a:p>
        </p:txBody>
      </p:sp>
      <p:sp>
        <p:nvSpPr>
          <p:cNvPr id="9" name="summary-2"/>
          <p:cNvSpPr/>
          <p:nvPr/>
        </p:nvSpPr>
        <p:spPr>
          <a:xfrm>
            <a:off x="3246120" y="1280160"/>
            <a:ext cx="2606040" cy="3200400"/>
          </a:xfrm>
          <a:prstGeom prst="rect">
            <a:avLst/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173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Malgun Gothic"/>
              </a:rPr>
              <a:t>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74519"/>
            <a:ext cx="2286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2년치 자료, 떠난 이유는 데이터에 없음</a:t>
            </a:r>
          </a:p>
          <a:p>
            <a:pPr algn="l" marL="146304" indent="-146304">
              <a:spcBef>
                <a:spcPts val="900"/>
              </a:spcBef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연락 효과(3%)는 가정, 순위는 변하지 않음</a:t>
            </a:r>
          </a:p>
          <a:p>
            <a:pPr algn="l" marL="146304" indent="-146304">
              <a:spcBef>
                <a:spcPts val="900"/>
              </a:spcBef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상품군, 바우처 결과는 연관성이지 효과가 아님</a:t>
            </a:r>
          </a:p>
          <a:p>
            <a:pPr algn="l" marL="146304" indent="-146304">
              <a:spcBef>
                <a:spcPts val="900"/>
              </a:spcBef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우수 기준(R$110)은 직접 정한 값</a:t>
            </a:r>
          </a:p>
        </p:txBody>
      </p:sp>
      <p:sp>
        <p:nvSpPr>
          <p:cNvPr id="12" name="summary-3"/>
          <p:cNvSpPr/>
          <p:nvPr/>
        </p:nvSpPr>
        <p:spPr>
          <a:xfrm>
            <a:off x="6035040" y="1280160"/>
            <a:ext cx="2606040" cy="3200400"/>
          </a:xfrm>
          <a:prstGeom prst="rect">
            <a:avLst/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Malgun Gothic"/>
              </a:rPr>
              <a:t>더 나아갈 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2286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A/B 테스트로 실제 효과 측정</a:t>
            </a:r>
          </a:p>
          <a:p>
            <a:pPr algn="l" marL="146304" indent="-146304">
              <a:spcBef>
                <a:spcPts val="900"/>
              </a:spcBef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연락 비용 대비 이익 계산</a:t>
            </a:r>
          </a:p>
          <a:p>
            <a:pPr algn="l" marL="146304" indent="-146304">
              <a:spcBef>
                <a:spcPts val="900"/>
              </a:spcBef>
              <a:buChar char="-"/>
            </a:pPr>
            <a:r>
              <a:rPr sz="1150" b="0">
                <a:solidFill>
                  <a:srgbClr val="1F2D29"/>
                </a:solidFill>
                <a:latin typeface="Malgun Gothic"/>
              </a:rPr>
              <a:t>설문 등으로 떠난 이유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쇼핑몰 주문 데이터 분석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